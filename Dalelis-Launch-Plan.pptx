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91295" y="0"/>
            <a:ext cx="3200400" cy="6858000"/>
          </a:xfrm>
          <a:prstGeom prst="rect">
            <a:avLst/>
          </a:prstGeom>
          <a:solidFill>
            <a:srgbClr val="2B385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10972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PLAN · MAY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Dalelis Mechanical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</a:t>
            </a:r>
            <a:endParaRPr lang="en-US" sz="9600" dirty="0"/>
          </a:p>
        </p:txBody>
      </p:sp>
      <p:sp>
        <p:nvSpPr>
          <p:cNvPr id="8" name="Shape 5"/>
          <p:cNvSpPr/>
          <p:nvPr/>
        </p:nvSpPr>
        <p:spPr>
          <a:xfrm>
            <a:off x="822960" y="4206240"/>
            <a:ext cx="1371600" cy="0"/>
          </a:xfrm>
          <a:prstGeom prst="line">
            <a:avLst/>
          </a:prstGeom>
          <a:noFill/>
          <a:ln w="38100">
            <a:solidFill>
              <a:srgbClr val="E845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3891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2-week plan to launch your new website and reach 4,400+ existing customers — by email and text — with your new maintenance plans.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FieldPass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19695" y="6035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619695" y="6263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James A. Dalelis, Owner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moves, one momentum.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F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builds on the last to turn your existing list into recurring revenue.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822960" cy="1188720"/>
          </a:xfrm>
          <a:prstGeom prst="rect">
            <a:avLst/>
          </a:prstGeom>
          <a:solidFill>
            <a:srgbClr val="1F2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6032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4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852928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1460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website goes live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51460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Webflow with a faster, more modern site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0" y="25603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domain. Same content. Loads twice as fast and looks unmistakably like a 2026 business — not a 2018 business.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931920"/>
            <a:ext cx="822960" cy="1188720"/>
          </a:xfrm>
          <a:prstGeom prst="rect">
            <a:avLst/>
          </a:prstGeom>
          <a:solidFill>
            <a:srgbClr val="1F2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93192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4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4224528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460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plans launch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51460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tiers, online payment, instant signup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772400" y="39319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pick a plan, pay with a credit card, and you get the booking automatically in HousecallPro. No phone tag.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5303520"/>
            <a:ext cx="822960" cy="1188720"/>
          </a:xfrm>
          <a:prstGeom prst="rect">
            <a:avLst/>
          </a:prstGeom>
          <a:solidFill>
            <a:srgbClr val="1F2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530352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4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5596128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514600" y="5349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+ text campaign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2514600" y="5806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800 customers by email, 3,600 by text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772400" y="53035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personal message from you — first by email, then by SMS to a wider list. Sent in waves to maximize replies and inbox delivery.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DALELIS MECHANICAL · LAUNCH PLAN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new website,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 a day.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already built and tested the replacement at dalelis.vercel.app. The migration itself is a 2-hour window where we point your domain at the new site. No content is being rewritten — just delivered better.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40880" y="731520"/>
            <a:ext cx="4572000" cy="2560320"/>
          </a:xfrm>
          <a:prstGeom prst="rect">
            <a:avLst/>
          </a:prstGeom>
          <a:solidFill>
            <a:srgbClr val="2B3850"/>
          </a:solidFill>
          <a:ln w="12700">
            <a:solidFill>
              <a:srgbClr val="3F4E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914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· WEBFLOW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137160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$30/month subscription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Slow page loads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online plan signup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payment integration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Looks like a 2018 site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3566160"/>
            <a:ext cx="4572000" cy="3291840"/>
          </a:xfrm>
          <a:prstGeom prst="rect">
            <a:avLst/>
          </a:prstGeom>
          <a:solidFill>
            <a:srgbClr val="F5F2EB"/>
          </a:solidFill>
          <a:ln w="25400">
            <a:solidFill>
              <a:srgbClr val="E845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· NEW SITE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4206240"/>
            <a:ext cx="4206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$0/month hosting (Vercel)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Loads in under 2 seconds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plan signup + payment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Mobile-perfect everywhere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Built-in tracking + analytics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Editable text, photos, prices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DALELIS MECHANICAL · LAUNCH PLAN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· EMAIL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Reaching the people who already know you — by email.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9260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03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your list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42519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pull all 800 customers with valid email from HousecallPro.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256032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49040" y="2834640"/>
            <a:ext cx="640080" cy="64008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4904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9260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3703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749040" y="42519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 opens with their first name, signed by you.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09360" y="256032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0" y="2834640"/>
            <a:ext cx="640080" cy="64008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8368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92608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83680" y="3703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in waves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583680" y="42519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per day for 8 days — keeps emails out of spam.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44000" y="256032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418320" y="2834640"/>
            <a:ext cx="640080" cy="64008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41832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92608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18320" y="3703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everything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418320" y="42519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Opens, clicks, signups — visible to you in a dashboard.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solidFill>
            <a:srgbClr val="1F2A3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94360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58978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100 emails per day → 800 customers reached in 8 days. Email goes out FIRST while SMS approval is pending in the background.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DALELIS MECHANICAL · LAUNCH PLAN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 RECEIVE · EMAIL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 letter — not a marketing blast.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943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5943600" cy="457200"/>
          </a:xfrm>
          <a:prstGeom prst="rect">
            <a:avLst/>
          </a:prstGeom>
          <a:solidFill>
            <a:srgbClr val="1F2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james@dalelismechanical.com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Charles, a small thank-you from Dalelis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Charles,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James — owner of Dalelis Mechanical. You've trusted us with your heating in the past, and I wanted to share something new with you before it goes public.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just launched maintenance plans.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25196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Annual or seasonal tune-ups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10% off any repairs all year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emergency scheduling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Plans from $19/month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5715000"/>
            <a:ext cx="2377440" cy="457200"/>
          </a:xfrm>
          <a:prstGeom prst="rect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715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plans  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626364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James A. Dalelis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05740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15200" y="2011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Personal, not promotional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0" y="23774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from your real address, addresses them by name. Looks like a letter, not an ad.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15468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3108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single ask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315200" y="34747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one button — see the plans. Cluttered emails get sent to spam.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2519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1520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reply works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7315200" y="45720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reply and reach you, not a noreply inbox. Boosts trust and inbox placement.</a:t>
            </a:r>
            <a:endParaRPr lang="en-US" sz="11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53492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0" y="5303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 slowly on purpose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315200" y="56692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100/day instead of 800 at once. Avoids spam filters and warms up your sender reputation.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DALELIS MECHANICAL · LAUNCH PLAN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· 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Doubling reach with a quick text.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 contacts in your CRM have phones but no email — text reaches them directly.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743200"/>
            <a:ext cx="640080" cy="64008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8346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Carrier approval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41605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register Dalelis with cell carriers (required for mass text — runs in the background, no work for you).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74720" y="24688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49040" y="2743200"/>
            <a:ext cx="640080" cy="64008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490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8346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749040" y="41605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text starts with the customer's first name. Identifies as Dalelis right away.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09360" y="24688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83680" y="2743200"/>
            <a:ext cx="640080" cy="64008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836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83464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8368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in waves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583680" y="41605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texts per day for 12 days. Keeps deliverability high and gives you time to handle replies.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144000" y="24688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2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418320" y="2743200"/>
            <a:ext cx="640080" cy="64008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4183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834640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1832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Click-tracked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418320" y="41605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 is unique, so you see exactly who clicked and from which message.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solidFill>
            <a:srgbClr val="1F2A3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833872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71600" y="5760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caveat: cell carriers require a 1-week approval for mass SMS. We submit on Day 1, send on Day 8 — runs in parallel with email so there's no idle time.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DALELIS MECHANICAL · LAUNCH PLAN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 RECEIVE · 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Short, direct, identifies as you.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4114800" cy="5029200"/>
          </a:xfrm>
          <a:prstGeom prst="roundRect">
            <a:avLst>
              <a:gd name="adj" fmla="val 7778"/>
            </a:avLst>
          </a:prstGeom>
          <a:solidFill>
            <a:srgbClr val="1F2A3F"/>
          </a:solidFill>
          <a:ln w="25400">
            <a:solidFill>
              <a:srgbClr val="3F4E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920240"/>
            <a:ext cx="3749040" cy="4480560"/>
          </a:xfrm>
          <a:prstGeom prst="roundRect">
            <a:avLst>
              <a:gd name="adj" fmla="val 3659"/>
            </a:avLst>
          </a:prstGeom>
          <a:solidFill>
            <a:srgbClr val="F1F5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F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DALELIS MECHANICAL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2377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F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10:24 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37360" y="2788920"/>
            <a:ext cx="320040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5F2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97180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Dalelis HVAC: Hey Charles, James here. 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launched maintenance plans — annual HVAC tune-ups + 10% off repairs from $19/mo. 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 our email? Take a look: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dalelismechanical.com/plans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000" i="1" dirty="0">
                <a:solidFill>
                  <a:srgbClr val="3F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STOP to opt out.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05740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Identifies as you up front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66560" y="2377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characters say 'Dalelis HVAC:' — recipients know who it's from instantly.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546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66560" y="3108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and direct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766560" y="34747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320 characters. Costs 1¢ to send and gets read in 3 seconds.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2519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link, click-tracked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766560" y="45720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recipient gets a unique URL — you'll know exactly who clicked through.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3492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5303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Legally compliant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766560" y="5669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'STOP to opt out' is included. Sent only to customers who've called you before.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DALELIS MECHANICAL · LAUNCH PLAN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estimates from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30 days.</a:t>
            </a:r>
            <a:endParaRPr lang="en-US" sz="4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77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800 CONTACTS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2651760" cy="1280160"/>
          </a:xfrm>
          <a:prstGeom prst="rect">
            <a:avLst/>
          </a:prstGeom>
          <a:solidFill>
            <a:srgbClr val="2B3850"/>
          </a:solidFill>
          <a:ln w="12700">
            <a:solidFill>
              <a:srgbClr val="3F4E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834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770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2788920"/>
            <a:ext cx="2651760" cy="1280160"/>
          </a:xfrm>
          <a:prstGeom prst="rect">
            <a:avLst/>
          </a:prstGeom>
          <a:solidFill>
            <a:srgbClr val="2B3850"/>
          </a:solidFill>
          <a:ln w="12700">
            <a:solidFill>
              <a:srgbClr val="3F4E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2834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380+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65760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(49%)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2788920"/>
            <a:ext cx="2651760" cy="1280160"/>
          </a:xfrm>
          <a:prstGeom prst="rect">
            <a:avLst/>
          </a:prstGeom>
          <a:solidFill>
            <a:srgbClr val="2B3850"/>
          </a:solidFill>
          <a:ln w="12700">
            <a:solidFill>
              <a:srgbClr val="3F4E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2834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55+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49224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44000" y="2788920"/>
            <a:ext cx="2651760" cy="128016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0" y="2834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8–15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932688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Signups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9768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5156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3,600 CONTACTS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40080" y="4709160"/>
            <a:ext cx="2651760" cy="1280160"/>
          </a:xfrm>
          <a:prstGeom prst="rect">
            <a:avLst/>
          </a:prstGeom>
          <a:solidFill>
            <a:srgbClr val="2B3850"/>
          </a:solidFill>
          <a:ln w="12700">
            <a:solidFill>
              <a:srgbClr val="3F4E6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0080" y="4754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3,500</a:t>
            </a:r>
            <a:endParaRPr lang="en-US" sz="3600" dirty="0"/>
          </a:p>
        </p:txBody>
      </p:sp>
      <p:sp>
        <p:nvSpPr>
          <p:cNvPr id="23" name="Text 19"/>
          <p:cNvSpPr/>
          <p:nvPr/>
        </p:nvSpPr>
        <p:spPr>
          <a:xfrm>
            <a:off x="82296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474720" y="4709160"/>
            <a:ext cx="2651760" cy="1280160"/>
          </a:xfrm>
          <a:prstGeom prst="rect">
            <a:avLst/>
          </a:prstGeom>
          <a:solidFill>
            <a:srgbClr val="2B3850"/>
          </a:solidFill>
          <a:ln w="12700">
            <a:solidFill>
              <a:srgbClr val="3F4E6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474720" y="4754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3,400</a:t>
            </a:r>
            <a:endParaRPr lang="en-US" sz="3600" dirty="0"/>
          </a:p>
        </p:txBody>
      </p:sp>
      <p:sp>
        <p:nvSpPr>
          <p:cNvPr id="26" name="Text 22"/>
          <p:cNvSpPr/>
          <p:nvPr/>
        </p:nvSpPr>
        <p:spPr>
          <a:xfrm>
            <a:off x="365760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(98%)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309360" y="4709160"/>
            <a:ext cx="2651760" cy="1280160"/>
          </a:xfrm>
          <a:prstGeom prst="rect">
            <a:avLst/>
          </a:prstGeom>
          <a:solidFill>
            <a:srgbClr val="2B3850"/>
          </a:solidFill>
          <a:ln w="12700">
            <a:solidFill>
              <a:srgbClr val="3F4E6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309360" y="4754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540</a:t>
            </a:r>
            <a:endParaRPr lang="en-US" sz="3600" dirty="0"/>
          </a:p>
        </p:txBody>
      </p:sp>
      <p:sp>
        <p:nvSpPr>
          <p:cNvPr id="29" name="Text 25"/>
          <p:cNvSpPr/>
          <p:nvPr/>
        </p:nvSpPr>
        <p:spPr>
          <a:xfrm>
            <a:off x="649224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9144000" y="4709160"/>
            <a:ext cx="2651760" cy="128016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144000" y="4754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15–35</a:t>
            </a:r>
            <a:endParaRPr lang="en-US" sz="3600" dirty="0"/>
          </a:p>
        </p:txBody>
      </p:sp>
      <p:sp>
        <p:nvSpPr>
          <p:cNvPr id="32" name="Text 28"/>
          <p:cNvSpPr/>
          <p:nvPr/>
        </p:nvSpPr>
        <p:spPr>
          <a:xfrm>
            <a:off x="932688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solidFill>
            <a:srgbClr val="F1F5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23–50 new plan signups · estimated $9,000–$20,000 in year-one revenue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DALELIS MECHANICAL · LAUNCH PLAN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14-DAY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kickoff to inbox to text in two weeks.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starts immediately. Text approval runs in the background — no idle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691640" cy="548640"/>
          </a:xfrm>
          <a:prstGeom prst="rect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2743200"/>
            <a:ext cx="457200" cy="0"/>
          </a:xfrm>
          <a:prstGeom prst="line">
            <a:avLst/>
          </a:prstGeom>
          <a:noFill/>
          <a:ln w="19050">
            <a:solidFill>
              <a:srgbClr val="A4B2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971800" y="27889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goes live. We wire up payment + HCP sync. SMS carrier registration submitted (runs in background).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255264"/>
            <a:ext cx="1691640" cy="548640"/>
          </a:xfrm>
          <a:prstGeom prst="rect">
            <a:avLst/>
          </a:prstGeom>
          <a:solidFill>
            <a:srgbClr val="1F2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5526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3529584"/>
            <a:ext cx="457200" cy="0"/>
          </a:xfrm>
          <a:prstGeom prst="line">
            <a:avLst/>
          </a:prstGeom>
          <a:noFill/>
          <a:ln w="19050">
            <a:solidFill>
              <a:srgbClr val="A4B2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3209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live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71800" y="3575304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cutover (2-hour window). Site goes live at dalelismechanical.com. Webflow stays running 72hr as safety net.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41648"/>
            <a:ext cx="1691640" cy="548640"/>
          </a:xfrm>
          <a:prstGeom prst="rect">
            <a:avLst/>
          </a:prstGeom>
          <a:solidFill>
            <a:srgbClr val="1F2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416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4–5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4315968"/>
            <a:ext cx="457200" cy="0"/>
          </a:xfrm>
          <a:prstGeom prst="line">
            <a:avLst/>
          </a:prstGeom>
          <a:noFill/>
          <a:ln w="19050">
            <a:solidFill>
              <a:srgbClr val="A4B2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3995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Friends &amp; family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971800" y="436168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goes to 50 hand-picked loyal customers first. Gather feedback. Tune the copy.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28032"/>
            <a:ext cx="1691640" cy="548640"/>
          </a:xfrm>
          <a:prstGeom prst="rect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28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6–10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23160" y="5102352"/>
            <a:ext cx="457200" cy="0"/>
          </a:xfrm>
          <a:prstGeom prst="line">
            <a:avLst/>
          </a:prstGeom>
          <a:noFill/>
          <a:ln w="19050">
            <a:solidFill>
              <a:srgbClr val="A4B2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4782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campaign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971800" y="51480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emails per day to remaining 750 customers. Replies hit James's inbox.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614416"/>
            <a:ext cx="1691640" cy="548640"/>
          </a:xfrm>
          <a:prstGeom prst="rect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61441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8–14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23160" y="5888736"/>
            <a:ext cx="457200" cy="0"/>
          </a:xfrm>
          <a:prstGeom prst="line">
            <a:avLst/>
          </a:prstGeom>
          <a:noFill/>
          <a:ln w="19050">
            <a:solidFill>
              <a:srgbClr val="A4B2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5568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campaign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971800" y="593445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approval clears. 300 texts per day to 3,600 contacts. Click-tracked.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DALELIS MECHANICAL · LAUNCH PLAN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small steps. ~2 hours of your time.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80160" y="1965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a Stripe account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286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stripe.com — 15 min. Verify your business + bank info so we can route customer payments to you.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0" y="2084832"/>
            <a:ext cx="1280160" cy="365760"/>
          </a:xfrm>
          <a:prstGeom prst="rect">
            <a:avLst/>
          </a:prstGeom>
          <a:solidFill>
            <a:srgbClr val="F5F2EB"/>
          </a:solidFill>
          <a:ln w="12700">
            <a:solidFill>
              <a:srgbClr val="A4B2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2084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0" y="2084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2651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customers from HCP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971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Customers → Export CSV. We'll filter to email-valid and phone-valid contacts.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0" y="2770632"/>
            <a:ext cx="1280160" cy="365760"/>
          </a:xfrm>
          <a:prstGeom prst="rect">
            <a:avLst/>
          </a:prstGeom>
          <a:solidFill>
            <a:srgbClr val="F5F2EB"/>
          </a:solidFill>
          <a:ln w="12700">
            <a:solidFill>
              <a:srgbClr val="A4B2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770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0" y="2770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80160" y="3337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off on email + text copy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657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send you final drafts for approval. You can tweak any wording.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0" y="3456432"/>
            <a:ext cx="1280160" cy="365760"/>
          </a:xfrm>
          <a:prstGeom prst="rect">
            <a:avLst/>
          </a:prstGeom>
          <a:solidFill>
            <a:srgbClr val="F5F2EB"/>
          </a:solidFill>
          <a:ln w="12700">
            <a:solidFill>
              <a:srgbClr val="A4B2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3456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0" y="3456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8016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SMS carrier registration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343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get a one-time form from Twilio asking to verify your business name + use case. Auto-filled by us.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12480" y="4142232"/>
            <a:ext cx="1280160" cy="365760"/>
          </a:xfrm>
          <a:prstGeom prst="rect">
            <a:avLst/>
          </a:prstGeom>
          <a:solidFill>
            <a:srgbClr val="F5F2EB"/>
          </a:solidFill>
          <a:ln w="12700">
            <a:solidFill>
              <a:srgbClr val="A4B2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41422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784080" y="41422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280160" y="4709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 off DNS access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80160" y="5029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manages dalelismechanical.com DNS gives us 1 hour to update records.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12480" y="4828032"/>
            <a:ext cx="1280160" cy="365760"/>
          </a:xfrm>
          <a:prstGeom prst="rect">
            <a:avLst/>
          </a:prstGeom>
          <a:solidFill>
            <a:srgbClr val="F5F2EB"/>
          </a:solidFill>
          <a:ln w="12700">
            <a:solidFill>
              <a:srgbClr val="A4B2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48280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784080" y="4828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admin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1280160" y="5394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on call for the launch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280160" y="5715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cutover: be reachable so we can fix anything weird in the first hour. Usually nothing comes up.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5513832"/>
            <a:ext cx="1280160" cy="365760"/>
          </a:xfrm>
          <a:prstGeom prst="rect">
            <a:avLst/>
          </a:prstGeom>
          <a:solidFill>
            <a:srgbClr val="F5F2EB"/>
          </a:solidFill>
          <a:ln w="12700">
            <a:solidFill>
              <a:srgbClr val="A4B2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5513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784080" y="5513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DALELIS MECHANICAL · LAUNCH PLAN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2B385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4175" y="2286000"/>
            <a:ext cx="2286000" cy="228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371600"/>
            <a:ext cx="1371600" cy="0"/>
          </a:xfrm>
          <a:prstGeom prst="line">
            <a:avLst/>
          </a:prstGeom>
          <a:noFill/>
          <a:ln w="38100">
            <a:solidFill>
              <a:srgbClr val="E8454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READY?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get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40080" y="24231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 launch date.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back the signed-off plan and we'll kick off Day 1 the same day. Email replies hit my inbox directly — happy to walk through anything that's still unclear.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5577840"/>
            <a:ext cx="7498080" cy="868680"/>
          </a:xfrm>
          <a:prstGeom prst="rect">
            <a:avLst/>
          </a:prstGeom>
          <a:solidFill>
            <a:srgbClr val="2B3850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669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TANANBAUM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charles@fieldpass.pro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943600" y="5852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A4B2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FieldPass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DALELIS MECHANICAL · LAUNCH PLAN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4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Dalelis Mechanical — Launch Plan</dc:title>
  <dc:subject>PptxGenJS Presentation</dc:subject>
  <dc:creator>FieldPass</dc:creator>
  <cp:lastModifiedBy>FieldPass</cp:lastModifiedBy>
  <cp:revision>1</cp:revision>
  <dcterms:created xsi:type="dcterms:W3CDTF">2026-05-12T19:30:07Z</dcterms:created>
  <dcterms:modified xsi:type="dcterms:W3CDTF">2026-05-12T19:30:07Z</dcterms:modified>
</cp:coreProperties>
</file>